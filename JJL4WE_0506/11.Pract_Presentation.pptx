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hu-H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ím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A1ABED5C-83F0-40BD-CD25-DD32906ED64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Alcím 2">
            <a:extLst>
              <a:ext uri="{FF2B5EF4-FFF2-40B4-BE49-F238E27FC236}">
                <a16:creationId xmlns:a16="http://schemas.microsoft.com/office/drawing/2014/main" id="{BBAB8F27-378C-2588-8C99-7B7AF32ABBD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u-HU"/>
              <a:t>Kattintson ide az alcím mintájának szerkesztéséhez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6CB5E3F0-7121-9177-C544-AB02B4EF4A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465905-1CFB-4A97-882D-D92306132A2B}" type="datetimeFigureOut">
              <a:rPr lang="hu-HU" smtClean="0"/>
              <a:t>2026. 04. 29.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909EEEE8-683B-39A6-4459-66F95DFD5D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E03C0E36-10F9-EF43-54AB-239A16E6FA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9EA655-819D-4EC6-B52A-FF0C452E88A3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0846001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ím és tartal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F36AA48B-1346-6DF7-8BC4-5F7FA3D8F5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9267BE42-F9AB-6047-253D-D312D6758A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CBF0774D-D244-C6FA-20E2-6C14AE2345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465905-1CFB-4A97-882D-D92306132A2B}" type="datetimeFigureOut">
              <a:rPr lang="hu-HU" smtClean="0"/>
              <a:t>2026. 04. 29.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E1579457-CFDA-A000-3B6F-108E02B3A7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2E281FB6-F1FF-A5DD-C035-418E40C096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9EA655-819D-4EC6-B52A-FF0C452E88A3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5206686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zakaszfejlé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48A96FBA-0941-190E-A36E-E8DC54C583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30BF630A-48D5-DD6D-7E89-50DD2CB1DE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34464285-1607-1464-CB58-DAFD2C67AF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465905-1CFB-4A97-882D-D92306132A2B}" type="datetimeFigureOut">
              <a:rPr lang="hu-HU" smtClean="0"/>
              <a:t>2026. 04. 29.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E1F9D6E7-4993-401E-E5AB-3917BA23B7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518AF77A-156C-7CDF-271A-131973A976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9EA655-819D-4EC6-B52A-FF0C452E88A3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7004094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tartalomrész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DC0F4E6C-7236-EA3F-9D7F-7437FA846A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4BDCDD98-C61A-C31A-B7DB-D5BB9274EFE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Tartalom helye 3">
            <a:extLst>
              <a:ext uri="{FF2B5EF4-FFF2-40B4-BE49-F238E27FC236}">
                <a16:creationId xmlns:a16="http://schemas.microsoft.com/office/drawing/2014/main" id="{FE91870E-3468-3D24-83AE-9453259DD2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5" name="Dátum helye 4">
            <a:extLst>
              <a:ext uri="{FF2B5EF4-FFF2-40B4-BE49-F238E27FC236}">
                <a16:creationId xmlns:a16="http://schemas.microsoft.com/office/drawing/2014/main" id="{771CA5B4-A169-CC4E-C86C-F22E0D5A2D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465905-1CFB-4A97-882D-D92306132A2B}" type="datetimeFigureOut">
              <a:rPr lang="hu-HU" smtClean="0"/>
              <a:t>2026. 04. 29.</a:t>
            </a:fld>
            <a:endParaRPr lang="hu-HU"/>
          </a:p>
        </p:txBody>
      </p:sp>
      <p:sp>
        <p:nvSpPr>
          <p:cNvPr id="6" name="Élőláb helye 5">
            <a:extLst>
              <a:ext uri="{FF2B5EF4-FFF2-40B4-BE49-F238E27FC236}">
                <a16:creationId xmlns:a16="http://schemas.microsoft.com/office/drawing/2014/main" id="{B1494CD2-5EB5-2AFA-2FF9-D90CF2C500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>
            <a:extLst>
              <a:ext uri="{FF2B5EF4-FFF2-40B4-BE49-F238E27FC236}">
                <a16:creationId xmlns:a16="http://schemas.microsoft.com/office/drawing/2014/main" id="{15678CD3-76DC-D531-FC5D-4575538B18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9EA655-819D-4EC6-B52A-FF0C452E88A3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7228106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Összehasonlít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3D414871-312F-83CC-F163-1159E78716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907A532B-77DE-9D95-3574-A86A51691B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Tartalom helye 3">
            <a:extLst>
              <a:ext uri="{FF2B5EF4-FFF2-40B4-BE49-F238E27FC236}">
                <a16:creationId xmlns:a16="http://schemas.microsoft.com/office/drawing/2014/main" id="{256E4FE2-A517-0DD4-2979-3781A4E44C9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5" name="Szöveg helye 4">
            <a:extLst>
              <a:ext uri="{FF2B5EF4-FFF2-40B4-BE49-F238E27FC236}">
                <a16:creationId xmlns:a16="http://schemas.microsoft.com/office/drawing/2014/main" id="{317C61A6-38FE-931E-3553-0BBF3D7A346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6" name="Tartalom helye 5">
            <a:extLst>
              <a:ext uri="{FF2B5EF4-FFF2-40B4-BE49-F238E27FC236}">
                <a16:creationId xmlns:a16="http://schemas.microsoft.com/office/drawing/2014/main" id="{9A37C7AA-300F-28A6-7A91-5541E3FB9AF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7" name="Dátum helye 6">
            <a:extLst>
              <a:ext uri="{FF2B5EF4-FFF2-40B4-BE49-F238E27FC236}">
                <a16:creationId xmlns:a16="http://schemas.microsoft.com/office/drawing/2014/main" id="{97F76CC6-62C1-5EEA-A173-DD48CA3A6B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465905-1CFB-4A97-882D-D92306132A2B}" type="datetimeFigureOut">
              <a:rPr lang="hu-HU" smtClean="0"/>
              <a:t>2026. 04. 29.</a:t>
            </a:fld>
            <a:endParaRPr lang="hu-HU"/>
          </a:p>
        </p:txBody>
      </p:sp>
      <p:sp>
        <p:nvSpPr>
          <p:cNvPr id="8" name="Élőláb helye 7">
            <a:extLst>
              <a:ext uri="{FF2B5EF4-FFF2-40B4-BE49-F238E27FC236}">
                <a16:creationId xmlns:a16="http://schemas.microsoft.com/office/drawing/2014/main" id="{E66DE97E-54D9-D6DB-DE5E-22E1FBE5D9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9" name="Dia számának helye 8">
            <a:extLst>
              <a:ext uri="{FF2B5EF4-FFF2-40B4-BE49-F238E27FC236}">
                <a16:creationId xmlns:a16="http://schemas.microsoft.com/office/drawing/2014/main" id="{3D7C75EE-8093-7002-EA4D-FBAC698FDA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9EA655-819D-4EC6-B52A-FF0C452E88A3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6600966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sak cí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BD5602C5-0096-3C79-47CC-61221DCC58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Dátum helye 2">
            <a:extLst>
              <a:ext uri="{FF2B5EF4-FFF2-40B4-BE49-F238E27FC236}">
                <a16:creationId xmlns:a16="http://schemas.microsoft.com/office/drawing/2014/main" id="{F7D305FB-4ECE-5E64-DDA9-E2E78B62A8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465905-1CFB-4A97-882D-D92306132A2B}" type="datetimeFigureOut">
              <a:rPr lang="hu-HU" smtClean="0"/>
              <a:t>2026. 04. 29.</a:t>
            </a:fld>
            <a:endParaRPr lang="hu-HU"/>
          </a:p>
        </p:txBody>
      </p:sp>
      <p:sp>
        <p:nvSpPr>
          <p:cNvPr id="4" name="Élőláb helye 3">
            <a:extLst>
              <a:ext uri="{FF2B5EF4-FFF2-40B4-BE49-F238E27FC236}">
                <a16:creationId xmlns:a16="http://schemas.microsoft.com/office/drawing/2014/main" id="{F276FCBE-2E4D-3951-8DC7-3F84342F6B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5" name="Dia számának helye 4">
            <a:extLst>
              <a:ext uri="{FF2B5EF4-FFF2-40B4-BE49-F238E27FC236}">
                <a16:creationId xmlns:a16="http://schemas.microsoft.com/office/drawing/2014/main" id="{524F94AC-43BC-229C-7674-74E38D295C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9EA655-819D-4EC6-B52A-FF0C452E88A3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2250028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Ü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átum helye 1">
            <a:extLst>
              <a:ext uri="{FF2B5EF4-FFF2-40B4-BE49-F238E27FC236}">
                <a16:creationId xmlns:a16="http://schemas.microsoft.com/office/drawing/2014/main" id="{89E2EE8E-6178-C993-E4F5-FBA6268780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465905-1CFB-4A97-882D-D92306132A2B}" type="datetimeFigureOut">
              <a:rPr lang="hu-HU" smtClean="0"/>
              <a:t>2026. 04. 29.</a:t>
            </a:fld>
            <a:endParaRPr lang="hu-HU"/>
          </a:p>
        </p:txBody>
      </p:sp>
      <p:sp>
        <p:nvSpPr>
          <p:cNvPr id="3" name="Élőláb helye 2">
            <a:extLst>
              <a:ext uri="{FF2B5EF4-FFF2-40B4-BE49-F238E27FC236}">
                <a16:creationId xmlns:a16="http://schemas.microsoft.com/office/drawing/2014/main" id="{36AFBBFC-0FCC-9C2C-565F-AC9945A36F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id="{F3FE6D10-81F5-AB19-1018-A8E2AC9EB5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9EA655-819D-4EC6-B52A-FF0C452E88A3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6402611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Tartalomrész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3FFE30BC-C623-521E-9936-4F9D9AEA49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614F2E49-34C2-33C2-0479-A915423AA6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Szöveg helye 3">
            <a:extLst>
              <a:ext uri="{FF2B5EF4-FFF2-40B4-BE49-F238E27FC236}">
                <a16:creationId xmlns:a16="http://schemas.microsoft.com/office/drawing/2014/main" id="{40687656-6DD6-8A97-BB40-400CC3C7023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átum helye 4">
            <a:extLst>
              <a:ext uri="{FF2B5EF4-FFF2-40B4-BE49-F238E27FC236}">
                <a16:creationId xmlns:a16="http://schemas.microsoft.com/office/drawing/2014/main" id="{5647D851-9391-4644-FA3F-60FF187B71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465905-1CFB-4A97-882D-D92306132A2B}" type="datetimeFigureOut">
              <a:rPr lang="hu-HU" smtClean="0"/>
              <a:t>2026. 04. 29.</a:t>
            </a:fld>
            <a:endParaRPr lang="hu-HU"/>
          </a:p>
        </p:txBody>
      </p:sp>
      <p:sp>
        <p:nvSpPr>
          <p:cNvPr id="6" name="Élőláb helye 5">
            <a:extLst>
              <a:ext uri="{FF2B5EF4-FFF2-40B4-BE49-F238E27FC236}">
                <a16:creationId xmlns:a16="http://schemas.microsoft.com/office/drawing/2014/main" id="{BF8024CB-4A67-372B-8CE9-66B9154086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>
            <a:extLst>
              <a:ext uri="{FF2B5EF4-FFF2-40B4-BE49-F238E27FC236}">
                <a16:creationId xmlns:a16="http://schemas.microsoft.com/office/drawing/2014/main" id="{148FE282-A461-8374-E128-D8B78DB992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9EA655-819D-4EC6-B52A-FF0C452E88A3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41149102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48FCC6F2-E99A-9556-675B-0C14F67C7B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Kép helye 2">
            <a:extLst>
              <a:ext uri="{FF2B5EF4-FFF2-40B4-BE49-F238E27FC236}">
                <a16:creationId xmlns:a16="http://schemas.microsoft.com/office/drawing/2014/main" id="{D94A776D-441F-0AE7-BCCC-8FB2F57044F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hu-HU"/>
          </a:p>
        </p:txBody>
      </p:sp>
      <p:sp>
        <p:nvSpPr>
          <p:cNvPr id="4" name="Szöveg helye 3">
            <a:extLst>
              <a:ext uri="{FF2B5EF4-FFF2-40B4-BE49-F238E27FC236}">
                <a16:creationId xmlns:a16="http://schemas.microsoft.com/office/drawing/2014/main" id="{14D7A273-42A5-B3F8-81B8-62904D79EB2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átum helye 4">
            <a:extLst>
              <a:ext uri="{FF2B5EF4-FFF2-40B4-BE49-F238E27FC236}">
                <a16:creationId xmlns:a16="http://schemas.microsoft.com/office/drawing/2014/main" id="{E4357625-E4DD-CCEC-C516-DECB2F2A9B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465905-1CFB-4A97-882D-D92306132A2B}" type="datetimeFigureOut">
              <a:rPr lang="hu-HU" smtClean="0"/>
              <a:t>2026. 04. 29.</a:t>
            </a:fld>
            <a:endParaRPr lang="hu-HU"/>
          </a:p>
        </p:txBody>
      </p:sp>
      <p:sp>
        <p:nvSpPr>
          <p:cNvPr id="6" name="Élőláb helye 5">
            <a:extLst>
              <a:ext uri="{FF2B5EF4-FFF2-40B4-BE49-F238E27FC236}">
                <a16:creationId xmlns:a16="http://schemas.microsoft.com/office/drawing/2014/main" id="{09E44B36-080B-3AC2-E8D3-DD79FD34D2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>
            <a:extLst>
              <a:ext uri="{FF2B5EF4-FFF2-40B4-BE49-F238E27FC236}">
                <a16:creationId xmlns:a16="http://schemas.microsoft.com/office/drawing/2014/main" id="{C6EBAFE6-8DD9-9204-34F1-C99882C9BD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9EA655-819D-4EC6-B52A-FF0C452E88A3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1032840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Cím és függőlege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AABDC0D3-3F4B-FC96-FEDC-1AE1FDB38C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Függőleges szöveg helye 2">
            <a:extLst>
              <a:ext uri="{FF2B5EF4-FFF2-40B4-BE49-F238E27FC236}">
                <a16:creationId xmlns:a16="http://schemas.microsoft.com/office/drawing/2014/main" id="{8F2553A0-CB7B-A84A-2AAE-3ED906531A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A665D01F-499A-40E0-5618-41F7FA2C74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465905-1CFB-4A97-882D-D92306132A2B}" type="datetimeFigureOut">
              <a:rPr lang="hu-HU" smtClean="0"/>
              <a:t>2026. 04. 29.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98CED9D7-2DF5-A48C-8D1A-591D77F3C9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6DFA71E7-EA22-906E-98AD-019D716623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9EA655-819D-4EC6-B52A-FF0C452E88A3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9150930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üggőleges cím é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üggőleges cím 1">
            <a:extLst>
              <a:ext uri="{FF2B5EF4-FFF2-40B4-BE49-F238E27FC236}">
                <a16:creationId xmlns:a16="http://schemas.microsoft.com/office/drawing/2014/main" id="{F3B0509A-178C-9E4D-6627-93E908644AC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Függőleges szöveg helye 2">
            <a:extLst>
              <a:ext uri="{FF2B5EF4-FFF2-40B4-BE49-F238E27FC236}">
                <a16:creationId xmlns:a16="http://schemas.microsoft.com/office/drawing/2014/main" id="{343126EA-A691-0F86-52B6-EDD0E514AA1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B4CBE43B-6552-0CA1-FE8D-4CB49640AE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465905-1CFB-4A97-882D-D92306132A2B}" type="datetimeFigureOut">
              <a:rPr lang="hu-HU" smtClean="0"/>
              <a:t>2026. 04. 29.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E8E6CD1A-E1B4-9702-CA8B-AE489C6E32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11E08AE0-E361-CA85-F768-DC483C93FC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9EA655-819D-4EC6-B52A-FF0C452E88A3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4755168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helye 1">
            <a:extLst>
              <a:ext uri="{FF2B5EF4-FFF2-40B4-BE49-F238E27FC236}">
                <a16:creationId xmlns:a16="http://schemas.microsoft.com/office/drawing/2014/main" id="{7A696D4D-E503-AE85-A794-FA1FE480DE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hu-HU"/>
              <a:t>Mintacím szerkesztése</a:t>
            </a:r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9D884621-C41F-F20E-AEA4-15F7BDD771D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BF90CD8A-20E1-52E8-4833-32493591AE3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3465905-1CFB-4A97-882D-D92306132A2B}" type="datetimeFigureOut">
              <a:rPr lang="hu-HU" smtClean="0"/>
              <a:t>2026. 04. 29.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591542A0-F6E7-1342-8526-62F180C589E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5FDFD4D9-DCC9-966B-A2CA-69461A10E69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89EA655-819D-4EC6-B52A-FF0C452E88A3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164214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u-H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6F5A5072-7B47-4D32-B52A-4EBBF590B8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715DAF0-AE1B-46C9-8A6B-DB2AA05AB9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2" y="-22693"/>
            <a:ext cx="12191999" cy="437412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016219D-510E-4184-9090-6D5578A87B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908719" y="-3931841"/>
            <a:ext cx="4374557" cy="12192000"/>
          </a:xfrm>
          <a:prstGeom prst="rect">
            <a:avLst/>
          </a:prstGeom>
          <a:gradFill>
            <a:gsLst>
              <a:gs pos="40000">
                <a:schemeClr val="accent1">
                  <a:alpha val="0"/>
                </a:schemeClr>
              </a:gs>
              <a:gs pos="100000">
                <a:schemeClr val="accent1">
                  <a:lumMod val="75000"/>
                  <a:alpha val="52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FF4A713-7B75-4B21-90D7-5AB19547C7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136696" y="-3703868"/>
            <a:ext cx="4374128" cy="11736479"/>
          </a:xfrm>
          <a:prstGeom prst="rect">
            <a:avLst/>
          </a:prstGeom>
          <a:gradFill>
            <a:gsLst>
              <a:gs pos="17000">
                <a:schemeClr val="accent1">
                  <a:alpha val="0"/>
                </a:schemeClr>
              </a:gs>
              <a:gs pos="100000">
                <a:srgbClr val="000000">
                  <a:alpha val="37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C631C0B-6DA6-4E57-8231-CE32B3434A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5" y="-22690"/>
            <a:ext cx="8542485" cy="4374126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  <a:alpha val="0"/>
                </a:schemeClr>
              </a:gs>
              <a:gs pos="100000">
                <a:srgbClr val="000000">
                  <a:alpha val="25000"/>
                </a:srgb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C29501E6-A978-4A61-9689-9085AF97A5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2508972">
            <a:off x="5945431" y="-1032053"/>
            <a:ext cx="4990147" cy="4439131"/>
          </a:xfrm>
          <a:custGeom>
            <a:avLst/>
            <a:gdLst>
              <a:gd name="connsiteX0" fmla="*/ 4990147 w 4990147"/>
              <a:gd name="connsiteY0" fmla="*/ 2229378 h 4439131"/>
              <a:gd name="connsiteX1" fmla="*/ 917384 w 4990147"/>
              <a:gd name="connsiteY1" fmla="*/ 4439131 h 4439131"/>
              <a:gd name="connsiteX2" fmla="*/ 910814 w 4990147"/>
              <a:gd name="connsiteY2" fmla="*/ 4434219 h 4439131"/>
              <a:gd name="connsiteX3" fmla="*/ 0 w 4990147"/>
              <a:gd name="connsiteY3" fmla="*/ 2502877 h 4439131"/>
              <a:gd name="connsiteX4" fmla="*/ 2502877 w 4990147"/>
              <a:gd name="connsiteY4" fmla="*/ 0 h 4439131"/>
              <a:gd name="connsiteX5" fmla="*/ 4954904 w 4990147"/>
              <a:gd name="connsiteY5" fmla="*/ 1998460 h 44391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90147" h="4439131">
                <a:moveTo>
                  <a:pt x="4990147" y="2229378"/>
                </a:moveTo>
                <a:lnTo>
                  <a:pt x="917384" y="4439131"/>
                </a:lnTo>
                <a:lnTo>
                  <a:pt x="910814" y="4434219"/>
                </a:lnTo>
                <a:cubicBezTo>
                  <a:pt x="354557" y="3975154"/>
                  <a:pt x="0" y="3280421"/>
                  <a:pt x="0" y="2502877"/>
                </a:cubicBezTo>
                <a:cubicBezTo>
                  <a:pt x="0" y="1120576"/>
                  <a:pt x="1120576" y="0"/>
                  <a:pt x="2502877" y="0"/>
                </a:cubicBezTo>
                <a:cubicBezTo>
                  <a:pt x="3712390" y="0"/>
                  <a:pt x="4721520" y="857941"/>
                  <a:pt x="4954904" y="199846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22000"/>
                </a:schemeClr>
              </a:gs>
              <a:gs pos="87000">
                <a:schemeClr val="accent1">
                  <a:lumMod val="60000"/>
                  <a:lumOff val="40000"/>
                  <a:alpha val="2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6E2917BE-13AF-A6D3-893F-E877582CD67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14824" y="735106"/>
            <a:ext cx="10053763" cy="2928470"/>
          </a:xfrm>
        </p:spPr>
        <p:txBody>
          <a:bodyPr anchor="b">
            <a:normAutofit/>
          </a:bodyPr>
          <a:lstStyle/>
          <a:p>
            <a:pPr algn="l"/>
            <a:r>
              <a:rPr lang="hu-HU" sz="4800">
                <a:solidFill>
                  <a:srgbClr val="FFFFFF"/>
                </a:solidFill>
              </a:rPr>
              <a:t>MongoDB-Python API</a:t>
            </a:r>
          </a:p>
        </p:txBody>
      </p:sp>
      <p:sp>
        <p:nvSpPr>
          <p:cNvPr id="3" name="Alcím 2">
            <a:extLst>
              <a:ext uri="{FF2B5EF4-FFF2-40B4-BE49-F238E27FC236}">
                <a16:creationId xmlns:a16="http://schemas.microsoft.com/office/drawing/2014/main" id="{BDC0343B-564D-67D1-441B-B2D273FD5BF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50682" y="4870824"/>
            <a:ext cx="10005951" cy="1458258"/>
          </a:xfrm>
        </p:spPr>
        <p:txBody>
          <a:bodyPr anchor="ctr">
            <a:normAutofit/>
          </a:bodyPr>
          <a:lstStyle/>
          <a:p>
            <a:pPr algn="l"/>
            <a:r>
              <a:rPr lang="hu-HU" dirty="0"/>
              <a:t>Készítette: Hauer Attila</a:t>
            </a:r>
          </a:p>
          <a:p>
            <a:pPr algn="l"/>
            <a:r>
              <a:rPr lang="hu-HU" dirty="0" err="1"/>
              <a:t>git</a:t>
            </a:r>
            <a:r>
              <a:rPr lang="hu-HU" dirty="0"/>
              <a:t>: JJL4WE_MDBPract</a:t>
            </a:r>
          </a:p>
        </p:txBody>
      </p:sp>
    </p:spTree>
    <p:extLst>
      <p:ext uri="{BB962C8B-B14F-4D97-AF65-F5344CB8AC3E}">
        <p14:creationId xmlns:p14="http://schemas.microsoft.com/office/powerpoint/2010/main" val="16414075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12609869-9E80-471B-A487-A53288E0E7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C8EC1C99-7B7D-1B27-ABD6-0D31F52498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6397" y="502020"/>
            <a:ext cx="5323715" cy="1642970"/>
          </a:xfrm>
        </p:spPr>
        <p:txBody>
          <a:bodyPr anchor="b">
            <a:normAutofit/>
          </a:bodyPr>
          <a:lstStyle/>
          <a:p>
            <a:r>
              <a:rPr lang="hu-HU" sz="4000"/>
              <a:t>MongoDB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F6796CC7-75EA-C197-A4B7-FA600AD9ED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4923" y="2405894"/>
            <a:ext cx="5315189" cy="3535083"/>
          </a:xfrm>
        </p:spPr>
        <p:txBody>
          <a:bodyPr anchor="t">
            <a:normAutofit/>
          </a:bodyPr>
          <a:lstStyle/>
          <a:p>
            <a:r>
              <a:rPr lang="hu-HU" sz="2000"/>
              <a:t>NoSQL</a:t>
            </a:r>
          </a:p>
          <a:p>
            <a:r>
              <a:rPr lang="hu-HU" sz="2000"/>
              <a:t>Nem relációs DB</a:t>
            </a:r>
          </a:p>
          <a:p>
            <a:r>
              <a:rPr lang="hu-HU" sz="2000"/>
              <a:t>Dokumentum alapú tárolás (BSON)</a:t>
            </a:r>
          </a:p>
          <a:p>
            <a:r>
              <a:rPr lang="hu-HU" sz="2000"/>
              <a:t>Kiválóan skálázható</a:t>
            </a:r>
          </a:p>
          <a:p>
            <a:endParaRPr lang="hu-HU" sz="200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004738A-9D34-43E8-97D2-CA0EED4F8B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3333" y="-5"/>
            <a:ext cx="4092521" cy="6858000"/>
          </a:xfrm>
          <a:prstGeom prst="rect">
            <a:avLst/>
          </a:prstGeom>
          <a:gradFill>
            <a:gsLst>
              <a:gs pos="8000">
                <a:srgbClr val="000000">
                  <a:alpha val="94000"/>
                </a:srgbClr>
              </a:gs>
              <a:gs pos="100000">
                <a:schemeClr val="accent1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8B8D07F-F13E-443E-BA68-2D26672D76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3333" y="-2"/>
            <a:ext cx="4092521" cy="6400369"/>
          </a:xfrm>
          <a:prstGeom prst="rect">
            <a:avLst/>
          </a:prstGeom>
          <a:gradFill>
            <a:gsLst>
              <a:gs pos="31000">
                <a:schemeClr val="accent1">
                  <a:lumMod val="50000"/>
                  <a:alpha val="0"/>
                </a:schemeClr>
              </a:gs>
              <a:gs pos="100000">
                <a:schemeClr val="accent1">
                  <a:lumMod val="50000"/>
                  <a:alpha val="26000"/>
                </a:schemeClr>
              </a:gs>
            </a:gsLst>
            <a:lin ang="18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813A4FA-24A5-41ED-A534-3807D1B2F3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3333" y="-22"/>
            <a:ext cx="4068667" cy="6400389"/>
          </a:xfrm>
          <a:prstGeom prst="rect">
            <a:avLst/>
          </a:prstGeom>
          <a:gradFill>
            <a:gsLst>
              <a:gs pos="0">
                <a:schemeClr val="accent1">
                  <a:alpha val="0"/>
                </a:schemeClr>
              </a:gs>
              <a:gs pos="72000">
                <a:srgbClr val="000000">
                  <a:alpha val="21000"/>
                </a:srgb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3944F27-CA70-4E84-A51A-E6BF895589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3333" y="-10"/>
            <a:ext cx="3611467" cy="6857997"/>
          </a:xfrm>
          <a:prstGeom prst="rect">
            <a:avLst/>
          </a:prstGeom>
          <a:gradFill>
            <a:gsLst>
              <a:gs pos="0">
                <a:schemeClr val="accent1">
                  <a:alpha val="0"/>
                </a:schemeClr>
              </a:gs>
              <a:gs pos="93000">
                <a:srgbClr val="000000">
                  <a:alpha val="29000"/>
                </a:srgb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7" name="Kép 6">
            <a:extLst>
              <a:ext uri="{FF2B5EF4-FFF2-40B4-BE49-F238E27FC236}">
                <a16:creationId xmlns:a16="http://schemas.microsoft.com/office/drawing/2014/main" id="{7A849FA7-9E3B-FFE5-D946-C7DC1A041D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3788" y="1583047"/>
            <a:ext cx="6685786" cy="30975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57244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12609869-9E80-471B-A487-A53288E0E7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239FD32F-2F2C-C5A9-D7EE-390AC36B2D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6397" y="502020"/>
            <a:ext cx="5323715" cy="1642970"/>
          </a:xfrm>
        </p:spPr>
        <p:txBody>
          <a:bodyPr anchor="b">
            <a:normAutofit/>
          </a:bodyPr>
          <a:lstStyle/>
          <a:p>
            <a:r>
              <a:rPr lang="hu-HU" sz="4000"/>
              <a:t>Pymongo alapok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B68AEC6E-7D99-D791-78D3-966E44E420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4923" y="2405894"/>
            <a:ext cx="5315189" cy="3535083"/>
          </a:xfrm>
        </p:spPr>
        <p:txBody>
          <a:bodyPr anchor="t">
            <a:normAutofit/>
          </a:bodyPr>
          <a:lstStyle/>
          <a:p>
            <a:pPr marL="0" indent="0">
              <a:buNone/>
            </a:pPr>
            <a:r>
              <a:rPr lang="hu-HU" sz="2000" b="1" dirty="0"/>
              <a:t>Kulcsfogalmak:</a:t>
            </a:r>
            <a:endParaRPr lang="hu-HU" sz="2000" dirty="0"/>
          </a:p>
          <a:p>
            <a:r>
              <a:rPr lang="hu-HU" sz="2000" b="1" dirty="0" err="1"/>
              <a:t>MongoClient</a:t>
            </a:r>
            <a:r>
              <a:rPr lang="hu-HU" sz="2000" b="1" dirty="0"/>
              <a:t>:</a:t>
            </a:r>
            <a:r>
              <a:rPr lang="hu-HU" sz="2000" dirty="0"/>
              <a:t> A kapocs a Python és a lokális </a:t>
            </a:r>
            <a:r>
              <a:rPr lang="hu-HU" sz="2000" dirty="0" err="1"/>
              <a:t>MongoDB</a:t>
            </a:r>
            <a:r>
              <a:rPr lang="hu-HU" sz="2000" dirty="0"/>
              <a:t> szerver (27017-es port) között.</a:t>
            </a:r>
          </a:p>
          <a:p>
            <a:r>
              <a:rPr lang="hu-HU" sz="2000" b="1" dirty="0"/>
              <a:t>Gyűjtemény (coll):</a:t>
            </a:r>
            <a:r>
              <a:rPr lang="hu-HU" sz="2000" dirty="0"/>
              <a:t> Az SQL "Tábla" (</a:t>
            </a:r>
            <a:r>
              <a:rPr lang="hu-HU" sz="2000" dirty="0" err="1"/>
              <a:t>Table</a:t>
            </a:r>
            <a:r>
              <a:rPr lang="hu-HU" sz="2000" dirty="0"/>
              <a:t>) megfelelője.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004738A-9D34-43E8-97D2-CA0EED4F8B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3333" y="-5"/>
            <a:ext cx="4092521" cy="6858000"/>
          </a:xfrm>
          <a:prstGeom prst="rect">
            <a:avLst/>
          </a:prstGeom>
          <a:gradFill>
            <a:gsLst>
              <a:gs pos="8000">
                <a:srgbClr val="000000">
                  <a:alpha val="94000"/>
                </a:srgbClr>
              </a:gs>
              <a:gs pos="100000">
                <a:schemeClr val="accent1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8B8D07F-F13E-443E-BA68-2D26672D76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3333" y="-2"/>
            <a:ext cx="4092521" cy="6400369"/>
          </a:xfrm>
          <a:prstGeom prst="rect">
            <a:avLst/>
          </a:prstGeom>
          <a:gradFill>
            <a:gsLst>
              <a:gs pos="31000">
                <a:schemeClr val="accent1">
                  <a:lumMod val="50000"/>
                  <a:alpha val="0"/>
                </a:schemeClr>
              </a:gs>
              <a:gs pos="100000">
                <a:schemeClr val="accent1">
                  <a:lumMod val="50000"/>
                  <a:alpha val="26000"/>
                </a:schemeClr>
              </a:gs>
            </a:gsLst>
            <a:lin ang="18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813A4FA-24A5-41ED-A534-3807D1B2F3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3333" y="-22"/>
            <a:ext cx="4068667" cy="6400389"/>
          </a:xfrm>
          <a:prstGeom prst="rect">
            <a:avLst/>
          </a:prstGeom>
          <a:gradFill>
            <a:gsLst>
              <a:gs pos="0">
                <a:schemeClr val="accent1">
                  <a:alpha val="0"/>
                </a:schemeClr>
              </a:gs>
              <a:gs pos="72000">
                <a:srgbClr val="000000">
                  <a:alpha val="21000"/>
                </a:srgb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C3944F27-CA70-4E84-A51A-E6BF895589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3333" y="-10"/>
            <a:ext cx="3611467" cy="6857997"/>
          </a:xfrm>
          <a:prstGeom prst="rect">
            <a:avLst/>
          </a:prstGeom>
          <a:gradFill>
            <a:gsLst>
              <a:gs pos="0">
                <a:schemeClr val="accent1">
                  <a:alpha val="0"/>
                </a:schemeClr>
              </a:gs>
              <a:gs pos="93000">
                <a:srgbClr val="000000">
                  <a:alpha val="29000"/>
                </a:srgb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7" name="Kép 6">
            <a:extLst>
              <a:ext uri="{FF2B5EF4-FFF2-40B4-BE49-F238E27FC236}">
                <a16:creationId xmlns:a16="http://schemas.microsoft.com/office/drawing/2014/main" id="{42A2B49C-1837-B0F0-1D47-8D9E3A698D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75967" y="2510970"/>
            <a:ext cx="4170530" cy="18679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64756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EE2AD96-B495-4E06-9291-B71706F728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3CF6D67-C5A8-4ADD-9E8E-1E38CA1D31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638515" y="639280"/>
            <a:ext cx="6858000" cy="5579440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6909FA0-B515-4681-B7A8-FA281D133B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393206" y="395206"/>
            <a:ext cx="6346209" cy="557608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1C9FE86-FCC3-4A31-AA1C-C882262B7F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1528907" y="2818967"/>
            <a:ext cx="2501979" cy="5576080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D96243B-ECED-4B71-8E06-AE9A285EAD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425002" y="852793"/>
            <a:ext cx="6858001" cy="5152412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11000"/>
                </a:scheme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A09989E4-EFDC-4A90-A633-E0525FB413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818753" y="1128497"/>
            <a:ext cx="4318303" cy="4318303"/>
          </a:xfrm>
          <a:prstGeom prst="ellipse">
            <a:avLst/>
          </a:prstGeom>
          <a:gradFill>
            <a:gsLst>
              <a:gs pos="39000">
                <a:schemeClr val="accent1">
                  <a:alpha val="0"/>
                </a:schemeClr>
              </a:gs>
              <a:gs pos="100000">
                <a:schemeClr val="accent1">
                  <a:lumMod val="60000"/>
                  <a:lumOff val="40000"/>
                  <a:alpha val="15000"/>
                </a:scheme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C7574D6D-3AB2-92DE-3C04-738F6C0E8F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6396" y="586855"/>
            <a:ext cx="4230100" cy="3387497"/>
          </a:xfrm>
        </p:spPr>
        <p:txBody>
          <a:bodyPr anchor="b">
            <a:normAutofit/>
          </a:bodyPr>
          <a:lstStyle/>
          <a:p>
            <a:pPr algn="r"/>
            <a:r>
              <a:rPr lang="hu-HU" sz="4000">
                <a:solidFill>
                  <a:srgbClr val="FFFFFF"/>
                </a:solidFill>
              </a:rPr>
              <a:t>CRUD műveletek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DB6D16AB-224D-001E-4E0E-7031EC0782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03158" y="649480"/>
            <a:ext cx="4862447" cy="5546047"/>
          </a:xfrm>
        </p:spPr>
        <p:txBody>
          <a:bodyPr anchor="ctr">
            <a:normAutofit/>
          </a:bodyPr>
          <a:lstStyle/>
          <a:p>
            <a:pPr marR="0" lvl="0" fontAlgn="base">
              <a:spcAft>
                <a:spcPct val="0"/>
              </a:spcAft>
              <a:buClrTx/>
              <a:buSzTx/>
              <a:tabLst/>
            </a:pPr>
            <a:r>
              <a:rPr lang="hu-HU" altLang="hu-HU" sz="2000" b="1" dirty="0" err="1"/>
              <a:t>Create</a:t>
            </a:r>
            <a:r>
              <a:rPr lang="hu-HU" altLang="hu-HU" sz="2000" b="1" dirty="0"/>
              <a:t>:</a:t>
            </a:r>
            <a:r>
              <a:rPr lang="hu-HU" altLang="hu-HU" sz="2000" dirty="0"/>
              <a:t> </a:t>
            </a:r>
            <a:r>
              <a:rPr lang="hu-HU" altLang="hu-HU" sz="2000" dirty="0" err="1"/>
              <a:t>insert_one</a:t>
            </a:r>
            <a:r>
              <a:rPr lang="hu-HU" altLang="hu-HU" sz="2000" dirty="0"/>
              <a:t>() vagy </a:t>
            </a:r>
            <a:r>
              <a:rPr lang="hu-HU" altLang="hu-HU" sz="2000" dirty="0" err="1"/>
              <a:t>insert_many</a:t>
            </a:r>
            <a:r>
              <a:rPr lang="hu-HU" altLang="hu-HU" sz="2000" dirty="0"/>
              <a:t>(). Bedobunk egy Python </a:t>
            </a:r>
            <a:r>
              <a:rPr lang="hu-HU" altLang="hu-HU" sz="2000" dirty="0" err="1"/>
              <a:t>dictionary</a:t>
            </a:r>
            <a:r>
              <a:rPr lang="hu-HU" altLang="hu-HU" sz="2000" dirty="0"/>
              <a:t>-t (vagy egy listát belőlük).</a:t>
            </a:r>
          </a:p>
          <a:p>
            <a:pPr fontAlgn="base">
              <a:spcAft>
                <a:spcPct val="0"/>
              </a:spcAft>
            </a:pPr>
            <a:r>
              <a:rPr lang="hu-HU" altLang="hu-HU" sz="2000" b="1" dirty="0"/>
              <a:t>Read:</a:t>
            </a:r>
            <a:r>
              <a:rPr lang="hu-HU" altLang="hu-HU" sz="2000" dirty="0"/>
              <a:t> </a:t>
            </a:r>
            <a:r>
              <a:rPr lang="hu-HU" altLang="hu-HU" sz="2000" dirty="0" err="1"/>
              <a:t>find</a:t>
            </a:r>
            <a:r>
              <a:rPr lang="hu-HU" altLang="hu-HU" sz="2000" dirty="0"/>
              <a:t>() és </a:t>
            </a:r>
            <a:r>
              <a:rPr lang="hu-HU" altLang="hu-HU" sz="2000" dirty="0" err="1"/>
              <a:t>find_one</a:t>
            </a:r>
            <a:r>
              <a:rPr lang="hu-HU" altLang="hu-HU" sz="2000" dirty="0"/>
              <a:t>(). Itt jönnek képbe a szűrések! Nem WHERE záradékot írunk, hanem egy szűrő objektumot: pl</a:t>
            </a:r>
            <a:r>
              <a:rPr lang="hu-HU" altLang="hu-HU" sz="2000"/>
              <a:t>. </a:t>
            </a:r>
            <a:r>
              <a:rPr lang="hu-HU" sz="2000"/>
              <a:t>"$</a:t>
            </a:r>
            <a:r>
              <a:rPr lang="hu-HU" sz="2000" dirty="0" err="1"/>
              <a:t>lte</a:t>
            </a:r>
            <a:r>
              <a:rPr lang="hu-HU" sz="2000" dirty="0"/>
              <a:t>": 4</a:t>
            </a:r>
            <a:r>
              <a:rPr lang="hu-HU" altLang="hu-HU" sz="2000" dirty="0"/>
              <a:t>.</a:t>
            </a:r>
          </a:p>
          <a:p>
            <a:pPr marR="0" lvl="0" fontAlgn="base">
              <a:spcAft>
                <a:spcPct val="0"/>
              </a:spcAft>
              <a:buClrTx/>
              <a:buSzTx/>
              <a:tabLst/>
            </a:pPr>
            <a:r>
              <a:rPr lang="hu-HU" altLang="hu-HU" sz="2000" b="1" dirty="0"/>
              <a:t>Update:</a:t>
            </a:r>
            <a:r>
              <a:rPr lang="hu-HU" altLang="hu-HU" sz="2000" dirty="0"/>
              <a:t> Az </a:t>
            </a:r>
            <a:r>
              <a:rPr lang="hu-HU" altLang="hu-HU" sz="2000" dirty="0" err="1"/>
              <a:t>update_one</a:t>
            </a:r>
            <a:r>
              <a:rPr lang="hu-HU" altLang="hu-HU" sz="2000" dirty="0"/>
              <a:t>() és </a:t>
            </a:r>
            <a:r>
              <a:rPr lang="hu-HU" altLang="hu-HU" sz="2000" dirty="0" err="1"/>
              <a:t>update_many</a:t>
            </a:r>
            <a:r>
              <a:rPr lang="hu-HU" altLang="hu-HU" sz="2000" dirty="0"/>
              <a:t>().</a:t>
            </a:r>
          </a:p>
          <a:p>
            <a:pPr marR="0" lvl="0" fontAlgn="base">
              <a:spcAft>
                <a:spcPct val="0"/>
              </a:spcAft>
              <a:buClrTx/>
              <a:buSzTx/>
              <a:tabLst/>
            </a:pPr>
            <a:r>
              <a:rPr lang="hu-HU" altLang="hu-HU" sz="2000" dirty="0"/>
              <a:t> </a:t>
            </a:r>
            <a:r>
              <a:rPr lang="hu-HU" altLang="hu-HU" sz="2000" b="1" dirty="0" err="1"/>
              <a:t>Delete</a:t>
            </a:r>
            <a:r>
              <a:rPr lang="hu-HU" altLang="hu-HU" sz="2000" b="1" dirty="0"/>
              <a:t>:</a:t>
            </a:r>
            <a:r>
              <a:rPr lang="hu-HU" altLang="hu-HU" sz="2000" dirty="0"/>
              <a:t> </a:t>
            </a:r>
            <a:r>
              <a:rPr lang="hu-HU" altLang="hu-HU" sz="2000" dirty="0" err="1"/>
              <a:t>delete_one</a:t>
            </a:r>
            <a:r>
              <a:rPr lang="hu-HU" altLang="hu-HU" sz="2000" dirty="0"/>
              <a:t>() és </a:t>
            </a:r>
            <a:r>
              <a:rPr lang="hu-HU" altLang="hu-HU" sz="2000" dirty="0" err="1"/>
              <a:t>delete_many</a:t>
            </a:r>
            <a:r>
              <a:rPr lang="hu-HU" altLang="hu-HU" sz="2000" dirty="0"/>
              <a:t>().</a:t>
            </a:r>
          </a:p>
          <a:p>
            <a:endParaRPr lang="hu-HU" sz="2000" dirty="0"/>
          </a:p>
        </p:txBody>
      </p:sp>
    </p:spTree>
    <p:extLst>
      <p:ext uri="{BB962C8B-B14F-4D97-AF65-F5344CB8AC3E}">
        <p14:creationId xmlns:p14="http://schemas.microsoft.com/office/powerpoint/2010/main" val="24291730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EE2AD96-B495-4E06-9291-B71706F728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3CF6D67-C5A8-4ADD-9E8E-1E38CA1D31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638515" y="639280"/>
            <a:ext cx="6858000" cy="5579440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6909FA0-B515-4681-B7A8-FA281D133B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393206" y="395206"/>
            <a:ext cx="6346209" cy="557608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1C9FE86-FCC3-4A31-AA1C-C882262B7F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1528907" y="2818967"/>
            <a:ext cx="2501979" cy="5576080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D96243B-ECED-4B71-8E06-AE9A285EAD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425002" y="852793"/>
            <a:ext cx="6858001" cy="5152412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11000"/>
                </a:scheme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A09989E4-EFDC-4A90-A633-E0525FB413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818753" y="1128497"/>
            <a:ext cx="4318303" cy="4318303"/>
          </a:xfrm>
          <a:prstGeom prst="ellipse">
            <a:avLst/>
          </a:prstGeom>
          <a:gradFill>
            <a:gsLst>
              <a:gs pos="39000">
                <a:schemeClr val="accent1">
                  <a:alpha val="0"/>
                </a:schemeClr>
              </a:gs>
              <a:gs pos="100000">
                <a:schemeClr val="accent1">
                  <a:lumMod val="60000"/>
                  <a:lumOff val="40000"/>
                  <a:alpha val="15000"/>
                </a:scheme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18064BE1-9260-C0D4-1222-78B4906919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6396" y="586855"/>
            <a:ext cx="4230100" cy="3387497"/>
          </a:xfrm>
        </p:spPr>
        <p:txBody>
          <a:bodyPr anchor="b">
            <a:normAutofit/>
          </a:bodyPr>
          <a:lstStyle/>
          <a:p>
            <a:pPr algn="r"/>
            <a:r>
              <a:rPr lang="hu-HU" sz="4000">
                <a:solidFill>
                  <a:srgbClr val="FFFFFF"/>
                </a:solidFill>
              </a:rPr>
              <a:t>Pipelinenok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7A47902F-E1BF-F79B-88F0-4DFDEF3DF9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03158" y="649480"/>
            <a:ext cx="4862447" cy="5546047"/>
          </a:xfrm>
        </p:spPr>
        <p:txBody>
          <a:bodyPr anchor="ctr">
            <a:normAutofit/>
          </a:bodyPr>
          <a:lstStyle/>
          <a:p>
            <a:r>
              <a:rPr lang="hu-HU" sz="2000" dirty="0"/>
              <a:t>Komplexebb lekérdezéseknél szokás alkalmazni</a:t>
            </a:r>
          </a:p>
          <a:p>
            <a:r>
              <a:rPr lang="hu-HU" sz="2000" dirty="0"/>
              <a:t>$</a:t>
            </a:r>
            <a:r>
              <a:rPr lang="hu-HU" sz="2000" dirty="0" err="1"/>
              <a:t>match</a:t>
            </a:r>
            <a:r>
              <a:rPr lang="hu-HU" sz="2000" dirty="0"/>
              <a:t> kiszűri azokat az adatokat amire nincs szükség</a:t>
            </a:r>
          </a:p>
          <a:p>
            <a:r>
              <a:rPr lang="hu-HU" sz="2000" dirty="0"/>
              <a:t>$</a:t>
            </a:r>
            <a:r>
              <a:rPr lang="hu-HU" sz="2000" dirty="0" err="1"/>
              <a:t>group</a:t>
            </a:r>
            <a:r>
              <a:rPr lang="hu-HU" sz="2000" dirty="0"/>
              <a:t> csoportosításokat lehet végezni, majd ezeken matematikai műveleteket (</a:t>
            </a:r>
            <a:r>
              <a:rPr lang="hu-HU" sz="2000" dirty="0" err="1"/>
              <a:t>avg,sum,count,min,max</a:t>
            </a:r>
            <a:r>
              <a:rPr lang="hu-HU" sz="2000" dirty="0"/>
              <a:t>)</a:t>
            </a:r>
          </a:p>
          <a:p>
            <a:r>
              <a:rPr lang="hu-HU" sz="2000" dirty="0"/>
              <a:t>$</a:t>
            </a:r>
            <a:r>
              <a:rPr lang="hu-HU" sz="2000" dirty="0" err="1"/>
              <a:t>lookup</a:t>
            </a:r>
            <a:r>
              <a:rPr lang="hu-HU" sz="2000" dirty="0"/>
              <a:t> összekapcsolja az adatokat egy másik gyűjteménnyel</a:t>
            </a:r>
          </a:p>
          <a:p>
            <a:endParaRPr lang="hu-HU" sz="2000" dirty="0"/>
          </a:p>
        </p:txBody>
      </p:sp>
    </p:spTree>
    <p:extLst>
      <p:ext uri="{BB962C8B-B14F-4D97-AF65-F5344CB8AC3E}">
        <p14:creationId xmlns:p14="http://schemas.microsoft.com/office/powerpoint/2010/main" val="225754785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-té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76</TotalTime>
  <Words>181</Words>
  <Application>Microsoft Office PowerPoint</Application>
  <PresentationFormat>Szélesvásznú</PresentationFormat>
  <Paragraphs>22</Paragraphs>
  <Slides>5</Slides>
  <Notes>0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3</vt:i4>
      </vt:variant>
      <vt:variant>
        <vt:lpstr>Téma</vt:lpstr>
      </vt:variant>
      <vt:variant>
        <vt:i4>1</vt:i4>
      </vt:variant>
      <vt:variant>
        <vt:lpstr>Diacímek</vt:lpstr>
      </vt:variant>
      <vt:variant>
        <vt:i4>5</vt:i4>
      </vt:variant>
    </vt:vector>
  </HeadingPairs>
  <TitlesOfParts>
    <vt:vector size="9" baseType="lpstr">
      <vt:lpstr>Aptos</vt:lpstr>
      <vt:lpstr>Aptos Display</vt:lpstr>
      <vt:lpstr>Arial</vt:lpstr>
      <vt:lpstr>Office-téma</vt:lpstr>
      <vt:lpstr>MongoDB-Python API</vt:lpstr>
      <vt:lpstr>MongoDB</vt:lpstr>
      <vt:lpstr>Pymongo alapok</vt:lpstr>
      <vt:lpstr>CRUD műveletek</vt:lpstr>
      <vt:lpstr>Pipelinenok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Hauer Attila Árpád</dc:creator>
  <cp:lastModifiedBy>Hauer Attila Árpád</cp:lastModifiedBy>
  <cp:revision>5</cp:revision>
  <dcterms:created xsi:type="dcterms:W3CDTF">2026-04-28T12:55:49Z</dcterms:created>
  <dcterms:modified xsi:type="dcterms:W3CDTF">2026-04-29T08:43:06Z</dcterms:modified>
</cp:coreProperties>
</file>